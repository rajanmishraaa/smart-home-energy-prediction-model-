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embeddedFontLst>
    <p:embeddedFont>
      <p:font typeface="DM Sans SemiBold"/>
      <p:regular r:id="rId201314"/>
    </p:embeddedFont>
    <p:embeddedFont>
      <p:font typeface="Inter Medium"/>
      <p:regular r:id="rId201315"/>
    </p:embeddedFont>
    <p:embeddedFont>
      <p:font typeface="Inter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image" Target="../media/image-1-4.png"/><Relationship Id="rId5" Type="http://schemas.openxmlformats.org/officeDocument/2006/relationships/image" Target="../media/image-1-5.svg"/><Relationship Id="rId6" Type="http://schemas.openxmlformats.org/officeDocument/2006/relationships/image" Target="../media/image-1-6.png"/><Relationship Id="rId7" Type="http://schemas.openxmlformats.org/officeDocument/2006/relationships/image" Target="../media/image-1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127.0.0.1:5000" TargetMode="Externa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657721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Smart Home Energy Prediction Model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1914624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Supervised Machine Learning — Regression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2493367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    Objective: Predict household energy consumption (kWh) using household and environmental features.   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2315" y="3316684"/>
            <a:ext cx="283461" cy="2834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75723" y="3310830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Input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1275723" y="3719513"/>
            <a:ext cx="568261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Daily household data (features + date)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2315" y="4405809"/>
            <a:ext cx="283461" cy="2834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75723" y="4399955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Model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1275723" y="4808637"/>
            <a:ext cx="568261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Supervised regression (Ridge final)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2315" y="5494933"/>
            <a:ext cx="283461" cy="2834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75723" y="5489079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Output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1275723" y="5897761"/>
            <a:ext cx="568261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Predicted Energy_Consumption_kWh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3142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Dataset &amp; Data Preparation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663700"/>
            <a:ext cx="5824888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        Dataset summary:       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61475" y="2097286"/>
            <a:ext cx="5215303" cy="959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90,000 records — April 1–30, 2025 (daily)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~3,000 households (simulated household-level data)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Target: Energy_Consumption_kWh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61475" y="3293566"/>
            <a:ext cx="5215303" cy="25400"/>
          </a:xfrm>
          <a:prstGeom prst="roundRect">
            <a:avLst>
              <a:gd name="adj" fmla="val 49999"/>
            </a:avLst>
          </a:prstGeom>
          <a:solidFill>
            <a:srgbClr val="464646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3555702"/>
            <a:ext cx="5824888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        Key preprocessing steps:       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1475" y="3989288"/>
            <a:ext cx="5215303" cy="15793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Removed Household_ID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Date → datetime; extracted Day, Day_of_Week, Is_Weekend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Encoded Has_AC (Yes=1, No=0); no missing values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StandardScaler applied; 80/20 train-test split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21267" y="1702098"/>
          <a:ext cx="9143771" cy="914400"/>
        </p:xfrm>
        <a:graphic>
          <a:graphicData uri="http://schemas.openxmlformats.org/drawingml/2006/table">
            <a:tbl>
              <a:tblPr/>
              <a:tblGrid>
                <a:gridCol w="2607652"/>
                <a:gridCol w="2607652"/>
              </a:tblGrid>
              <a:tr h="4973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Feature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9C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9C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9C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Type / Notes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EF9C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9C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9C82"/>
                    </a:solidFill>
                  </a:tcPr>
                </a:tc>
              </a:tr>
              <a:tr h="4973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Household_Size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Numeric — occupants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4973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Avg_Temperature_C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Numeric — daily average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4973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Has_AC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Binary (1/0)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7774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Peak_Hours_Usage_kWh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Numeric — strong predictor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7774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Date-derived features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Day, Day_of_Week, Is_Weekend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321267" y="5451177"/>
            <a:ext cx="5215303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Visual: Raw Data → Cleaning → Feature Engineering → Model-Ready Data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8263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Machine Learning Methodology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551311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    Workflow (concise): Dataset → Preprocessing → EDA → Feature selection → Train-test split → Scaling → Model training → Comparison → 5-fold CV → Grid search → Final Ridge → Flask   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3368774"/>
            <a:ext cx="1004962" cy="10049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02670" y="3368774"/>
            <a:ext cx="222423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Multiple Linear Regression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1902670" y="4072731"/>
            <a:ext cx="222423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Baseline linear model — interpretable coefficients.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135" y="3368774"/>
            <a:ext cx="1004962" cy="100498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604330" y="3368774"/>
            <a:ext cx="2224230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Polynomial Regression (degree 2)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5604330" y="4368006"/>
            <a:ext cx="222423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Captures simple nonlinearities via quadratic terms.</a:t>
            </a:r>
            <a:endParaRPr lang="en-US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4794" y="3368774"/>
            <a:ext cx="1004962" cy="100498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305990" y="3368774"/>
            <a:ext cx="222423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Ridge Regression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9305990" y="3777456"/>
            <a:ext cx="222423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L2 regularization to control coefficient magnitude and improve stability.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43980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Model Evaluation &amp; Results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758355"/>
            <a:ext cx="1147833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    Metrics used: MSE, RMSE (kWh), R², 5-fold CV. Note: R² is NOT called "accuracy".   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197342" y="2187674"/>
            <a:ext cx="4286937" cy="499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9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0.6200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661475" y="2853035"/>
            <a:ext cx="535877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MSE (test)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61475" y="3161804"/>
            <a:ext cx="535877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Mean squared error on test set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707317" y="2187674"/>
            <a:ext cx="4286937" cy="499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9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0.7874 kWh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6171450" y="2853035"/>
            <a:ext cx="535877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RMSE (test)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171450" y="3161804"/>
            <a:ext cx="535877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Root mean squared error — interpretable in kWh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197342" y="3696990"/>
            <a:ext cx="4286937" cy="499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9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0.9798</a:t>
            </a:r>
            <a:endParaRPr lang="en-US" sz="3900" dirty="0"/>
          </a:p>
        </p:txBody>
      </p:sp>
      <p:sp>
        <p:nvSpPr>
          <p:cNvPr id="11" name="Text 9"/>
          <p:cNvSpPr/>
          <p:nvPr/>
        </p:nvSpPr>
        <p:spPr>
          <a:xfrm>
            <a:off x="661475" y="4362351"/>
            <a:ext cx="535877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R² (test)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61475" y="4671120"/>
            <a:ext cx="535877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Proportion of variance explained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707317" y="3696990"/>
            <a:ext cx="4286937" cy="499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9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0.9794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6171450" y="4362351"/>
            <a:ext cx="535877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CV R² (5-fold)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171450" y="4671120"/>
            <a:ext cx="535877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Cross-validated R²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61475" y="5024834"/>
            <a:ext cx="1147833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Final Ridge Model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: Best alpha = 1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61475" y="5378549"/>
            <a:ext cx="10868745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Actual vs Predicted (concept)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X: Actual Energy Consumption — Y: Predicted Energy Consumption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847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Optimization &amp; Deployment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071489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Model Optimization</a:t>
            </a:r>
            <a:endParaRPr lang="en-US" sz="1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579390"/>
            <a:ext cx="5203794" cy="228272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38514" y="4363665"/>
            <a:ext cx="786484" cy="140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Grid Search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2238514" y="4544546"/>
            <a:ext cx="786484" cy="11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Test Ridge alphas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736988" y="4363665"/>
            <a:ext cx="786484" cy="140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Train Final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736988" y="4544546"/>
            <a:ext cx="786484" cy="11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Fit Ridge model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016815" y="2784555"/>
            <a:ext cx="786484" cy="140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5-fold CV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016815" y="2965436"/>
            <a:ext cx="786484" cy="225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Assess model stability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3505275" y="2784555"/>
            <a:ext cx="786484" cy="140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Select Alpha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3505275" y="2965436"/>
            <a:ext cx="786484" cy="11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Best alpha = 1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661475" y="5074741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5-fold CV assessed stability; grid search tested alpha values and selected alpha = 1 based on CV R².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332776" y="175160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Flask Deployment</a:t>
            </a:r>
            <a:endParaRPr lang="en-US" sz="1850" dirty="0"/>
          </a:p>
        </p:txBody>
      </p:sp>
      <p:sp>
        <p:nvSpPr>
          <p:cNvPr id="15" name="Shape 12"/>
          <p:cNvSpPr/>
          <p:nvPr/>
        </p:nvSpPr>
        <p:spPr>
          <a:xfrm>
            <a:off x="6332776" y="2259509"/>
            <a:ext cx="2507394" cy="1820366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25399">
            <a:solidFill>
              <a:srgbClr val="D8D4D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47182" y="2473920"/>
            <a:ext cx="207858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User Input</a:t>
            </a:r>
            <a:endParaRPr lang="en-US" sz="1850" dirty="0"/>
          </a:p>
        </p:txBody>
      </p:sp>
      <p:sp>
        <p:nvSpPr>
          <p:cNvPr id="17" name="Text 14"/>
          <p:cNvSpPr/>
          <p:nvPr/>
        </p:nvSpPr>
        <p:spPr>
          <a:xfrm>
            <a:off x="6547182" y="2958207"/>
            <a:ext cx="207858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Household features entered via web form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9029176" y="2259509"/>
            <a:ext cx="2507394" cy="1820366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25399">
            <a:solidFill>
              <a:srgbClr val="D8D4D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243583" y="2473920"/>
            <a:ext cx="207858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Flask App</a:t>
            </a:r>
            <a:endParaRPr lang="en-US" sz="1850" dirty="0"/>
          </a:p>
        </p:txBody>
      </p:sp>
      <p:sp>
        <p:nvSpPr>
          <p:cNvPr id="20" name="Text 17"/>
          <p:cNvSpPr/>
          <p:nvPr/>
        </p:nvSpPr>
        <p:spPr>
          <a:xfrm>
            <a:off x="9243583" y="2958207"/>
            <a:ext cx="207858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Loads energy_model.pkl and routes input to model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6332776" y="4268887"/>
            <a:ext cx="5203794" cy="1215529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25399">
            <a:solidFill>
              <a:srgbClr val="D8D4D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47182" y="4483298"/>
            <a:ext cx="477498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Prediction</a:t>
            </a:r>
            <a:endParaRPr lang="en-US" sz="1850" dirty="0"/>
          </a:p>
        </p:txBody>
      </p:sp>
      <p:sp>
        <p:nvSpPr>
          <p:cNvPr id="23" name="Text 20"/>
          <p:cNvSpPr/>
          <p:nvPr/>
        </p:nvSpPr>
        <p:spPr>
          <a:xfrm>
            <a:off x="6547182" y="4967585"/>
            <a:ext cx="477498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Model returns predicted kWh to the user interface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6332776" y="5697041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u="sng" dirty="0">
                <a:solidFill>
                  <a:srgbClr val="1C977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http://127.0.0.1:5000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(local run)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5173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Conclusion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817985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Conclusions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396728"/>
            <a:ext cx="10868745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Supervised regression model developed for household energy forecasting.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Compared Linear, Polynomial (degree 2), and Ridge; Ridge (alpha=1) selected.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Final test performance: R² = 0.9798, RMSE = 0.7874 kWh (MSE = 0.6200).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Model persisted as energy_model.pkl and integrated into a Flask app for interactive predictions.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4088110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Limitations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4666853"/>
            <a:ext cx="10868745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Simulated dataset limited to April 2025 — temporal scope narrow.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Limited household/appliance features; Peak_Hours_Usage_kWh strongly correlated with total consumption.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High R² partly explained by strong predictor; real-world generalization not guaranteed.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C9770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2026-09-27T11:28:51Z</dcterms:created>
  <dcterms:modified xsi:type="dcterms:W3CDTF">2026-09-27T11:28:51Z</dcterms:modified>
</cp:coreProperties>
</file>